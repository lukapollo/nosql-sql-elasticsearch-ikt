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4" r:id="rId1"/>
  </p:sldMasterIdLst>
  <p:notesMasterIdLst>
    <p:notesMasterId r:id="rId11"/>
  </p:notesMasterIdLst>
  <p:sldIdLst>
    <p:sldId id="256" r:id="rId2"/>
    <p:sldId id="257" r:id="rId3"/>
    <p:sldId id="264" r:id="rId4"/>
    <p:sldId id="258" r:id="rId5"/>
    <p:sldId id="259" r:id="rId6"/>
    <p:sldId id="262" r:id="rId7"/>
    <p:sldId id="263" r:id="rId8"/>
    <p:sldId id="260" r:id="rId9"/>
    <p:sldId id="261" r:id="rId10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718D3C6-9CDE-0C1B-5FA4-BEA09F00D28E}" v="237" dt="2026-04-14T15:37:47.5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örzsönyi Gergő 642" userId="S::borger642@logiker.hu::e7dba601-4e09-4003-b553-b590b71c507a" providerId="AD" clId="Web-{F718D3C6-9CDE-0C1B-5FA4-BEA09F00D28E}"/>
    <pc:docChg chg="addSld modSld sldOrd">
      <pc:chgData name="Börzsönyi Gergő 642" userId="S::borger642@logiker.hu::e7dba601-4e09-4003-b553-b590b71c507a" providerId="AD" clId="Web-{F718D3C6-9CDE-0C1B-5FA4-BEA09F00D28E}" dt="2026-04-14T15:38:49.521" v="401"/>
      <pc:docMkLst>
        <pc:docMk/>
      </pc:docMkLst>
      <pc:sldChg chg="addSp modSp">
        <pc:chgData name="Börzsönyi Gergő 642" userId="S::borger642@logiker.hu::e7dba601-4e09-4003-b553-b590b71c507a" providerId="AD" clId="Web-{F718D3C6-9CDE-0C1B-5FA4-BEA09F00D28E}" dt="2026-04-14T15:30:07.087" v="341" actId="20577"/>
        <pc:sldMkLst>
          <pc:docMk/>
          <pc:sldMk cId="809816520" sldId="258"/>
        </pc:sldMkLst>
        <pc:spChg chg="mod">
          <ac:chgData name="Börzsönyi Gergő 642" userId="S::borger642@logiker.hu::e7dba601-4e09-4003-b553-b590b71c507a" providerId="AD" clId="Web-{F718D3C6-9CDE-0C1B-5FA4-BEA09F00D28E}" dt="2026-04-14T15:30:07.087" v="341" actId="20577"/>
          <ac:spMkLst>
            <pc:docMk/>
            <pc:sldMk cId="809816520" sldId="258"/>
            <ac:spMk id="3" creationId="{5AEAC592-398C-C91C-176B-D3569E73E99B}"/>
          </ac:spMkLst>
        </pc:spChg>
        <pc:spChg chg="add mod">
          <ac:chgData name="Börzsönyi Gergő 642" userId="S::borger642@logiker.hu::e7dba601-4e09-4003-b553-b590b71c507a" providerId="AD" clId="Web-{F718D3C6-9CDE-0C1B-5FA4-BEA09F00D28E}" dt="2026-04-14T14:49:42.305" v="17"/>
          <ac:spMkLst>
            <pc:docMk/>
            <pc:sldMk cId="809816520" sldId="258"/>
            <ac:spMk id="4" creationId="{3492A3B8-F27A-CC6E-10E4-9ED796C95714}"/>
          </ac:spMkLst>
        </pc:spChg>
      </pc:sldChg>
      <pc:sldChg chg="modSp ord modNotes">
        <pc:chgData name="Börzsönyi Gergő 642" userId="S::borger642@logiker.hu::e7dba601-4e09-4003-b553-b590b71c507a" providerId="AD" clId="Web-{F718D3C6-9CDE-0C1B-5FA4-BEA09F00D28E}" dt="2026-04-14T15:33:23.182" v="381" actId="20577"/>
        <pc:sldMkLst>
          <pc:docMk/>
          <pc:sldMk cId="3477171168" sldId="260"/>
        </pc:sldMkLst>
        <pc:spChg chg="mod">
          <ac:chgData name="Börzsönyi Gergő 642" userId="S::borger642@logiker.hu::e7dba601-4e09-4003-b553-b590b71c507a" providerId="AD" clId="Web-{F718D3C6-9CDE-0C1B-5FA4-BEA09F00D28E}" dt="2026-04-14T15:33:23.182" v="381" actId="20577"/>
          <ac:spMkLst>
            <pc:docMk/>
            <pc:sldMk cId="3477171168" sldId="260"/>
            <ac:spMk id="2" creationId="{41DB42AF-D2CE-8C6D-D5EA-10594770E34A}"/>
          </ac:spMkLst>
        </pc:spChg>
        <pc:spChg chg="mod">
          <ac:chgData name="Börzsönyi Gergő 642" userId="S::borger642@logiker.hu::e7dba601-4e09-4003-b553-b590b71c507a" providerId="AD" clId="Web-{F718D3C6-9CDE-0C1B-5FA4-BEA09F00D28E}" dt="2026-04-14T15:33:20.041" v="380" actId="20577"/>
          <ac:spMkLst>
            <pc:docMk/>
            <pc:sldMk cId="3477171168" sldId="260"/>
            <ac:spMk id="3" creationId="{8DB5E57F-C073-9CCB-9458-75945F62FD08}"/>
          </ac:spMkLst>
        </pc:spChg>
      </pc:sldChg>
      <pc:sldChg chg="modSp">
        <pc:chgData name="Börzsönyi Gergő 642" userId="S::borger642@logiker.hu::e7dba601-4e09-4003-b553-b590b71c507a" providerId="AD" clId="Web-{F718D3C6-9CDE-0C1B-5FA4-BEA09F00D28E}" dt="2026-04-14T15:25:54.741" v="248" actId="20577"/>
        <pc:sldMkLst>
          <pc:docMk/>
          <pc:sldMk cId="2108888516" sldId="261"/>
        </pc:sldMkLst>
        <pc:spChg chg="mod">
          <ac:chgData name="Börzsönyi Gergő 642" userId="S::borger642@logiker.hu::e7dba601-4e09-4003-b553-b590b71c507a" providerId="AD" clId="Web-{F718D3C6-9CDE-0C1B-5FA4-BEA09F00D28E}" dt="2026-04-14T15:25:54.741" v="248" actId="20577"/>
          <ac:spMkLst>
            <pc:docMk/>
            <pc:sldMk cId="2108888516" sldId="261"/>
            <ac:spMk id="2" creationId="{407B0BE9-C02D-D784-BBC2-BFE0BAFEB6A8}"/>
          </ac:spMkLst>
        </pc:spChg>
      </pc:sldChg>
      <pc:sldChg chg="addSp modSp new modNotes">
        <pc:chgData name="Börzsönyi Gergő 642" userId="S::borger642@logiker.hu::e7dba601-4e09-4003-b553-b590b71c507a" providerId="AD" clId="Web-{F718D3C6-9CDE-0C1B-5FA4-BEA09F00D28E}" dt="2026-04-14T15:28:04.195" v="328" actId="20577"/>
        <pc:sldMkLst>
          <pc:docMk/>
          <pc:sldMk cId="3553344801" sldId="262"/>
        </pc:sldMkLst>
        <pc:spChg chg="mod">
          <ac:chgData name="Börzsönyi Gergő 642" userId="S::borger642@logiker.hu::e7dba601-4e09-4003-b553-b590b71c507a" providerId="AD" clId="Web-{F718D3C6-9CDE-0C1B-5FA4-BEA09F00D28E}" dt="2026-04-14T15:28:04.195" v="328" actId="20577"/>
          <ac:spMkLst>
            <pc:docMk/>
            <pc:sldMk cId="3553344801" sldId="262"/>
            <ac:spMk id="2" creationId="{5A14A4F9-121F-DC50-AB45-B19769E6C514}"/>
          </ac:spMkLst>
        </pc:spChg>
        <pc:spChg chg="mod">
          <ac:chgData name="Börzsönyi Gergő 642" userId="S::borger642@logiker.hu::e7dba601-4e09-4003-b553-b590b71c507a" providerId="AD" clId="Web-{F718D3C6-9CDE-0C1B-5FA4-BEA09F00D28E}" dt="2026-04-14T15:23:29.443" v="195" actId="14100"/>
          <ac:spMkLst>
            <pc:docMk/>
            <pc:sldMk cId="3553344801" sldId="262"/>
            <ac:spMk id="3" creationId="{8170D858-6851-EBE4-E050-BC262E5C6E04}"/>
          </ac:spMkLst>
        </pc:spChg>
        <pc:spChg chg="add mod">
          <ac:chgData name="Börzsönyi Gergő 642" userId="S::borger642@logiker.hu::e7dba601-4e09-4003-b553-b590b71c507a" providerId="AD" clId="Web-{F718D3C6-9CDE-0C1B-5FA4-BEA09F00D28E}" dt="2026-04-14T15:24:01.568" v="200"/>
          <ac:spMkLst>
            <pc:docMk/>
            <pc:sldMk cId="3553344801" sldId="262"/>
            <ac:spMk id="5" creationId="{1AF96909-4617-6D0F-7143-9FC480361F39}"/>
          </ac:spMkLst>
        </pc:spChg>
        <pc:picChg chg="add mod">
          <ac:chgData name="Börzsönyi Gergő 642" userId="S::borger642@logiker.hu::e7dba601-4e09-4003-b553-b590b71c507a" providerId="AD" clId="Web-{F718D3C6-9CDE-0C1B-5FA4-BEA09F00D28E}" dt="2026-04-14T15:23:24.411" v="192" actId="1076"/>
          <ac:picMkLst>
            <pc:docMk/>
            <pc:sldMk cId="3553344801" sldId="262"/>
            <ac:picMk id="4" creationId="{2D117A64-25BB-3A4A-EC7F-61DA2443DBE8}"/>
          </ac:picMkLst>
        </pc:picChg>
      </pc:sldChg>
      <pc:sldChg chg="modSp new modNotes">
        <pc:chgData name="Börzsönyi Gergő 642" userId="S::borger642@logiker.hu::e7dba601-4e09-4003-b553-b590b71c507a" providerId="AD" clId="Web-{F718D3C6-9CDE-0C1B-5FA4-BEA09F00D28E}" dt="2026-04-14T15:38:49.521" v="401"/>
        <pc:sldMkLst>
          <pc:docMk/>
          <pc:sldMk cId="1306639778" sldId="263"/>
        </pc:sldMkLst>
        <pc:spChg chg="mod">
          <ac:chgData name="Börzsönyi Gergő 642" userId="S::borger642@logiker.hu::e7dba601-4e09-4003-b553-b590b71c507a" providerId="AD" clId="Web-{F718D3C6-9CDE-0C1B-5FA4-BEA09F00D28E}" dt="2026-04-14T15:28:07.445" v="329" actId="20577"/>
          <ac:spMkLst>
            <pc:docMk/>
            <pc:sldMk cId="1306639778" sldId="263"/>
            <ac:spMk id="2" creationId="{4BB6DE51-2FD8-E60C-B979-EF19298C34C0}"/>
          </ac:spMkLst>
        </pc:spChg>
        <pc:spChg chg="mod">
          <ac:chgData name="Börzsönyi Gergő 642" userId="S::borger642@logiker.hu::e7dba601-4e09-4003-b553-b590b71c507a" providerId="AD" clId="Web-{F718D3C6-9CDE-0C1B-5FA4-BEA09F00D28E}" dt="2026-04-14T15:34:04.375" v="386" actId="20577"/>
          <ac:spMkLst>
            <pc:docMk/>
            <pc:sldMk cId="1306639778" sldId="263"/>
            <ac:spMk id="3" creationId="{49B59618-FE93-D299-585C-B961FE49460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A837B7-5301-4EA9-B0CE-8405836672D0}" type="datetimeFigureOut">
              <a:t>2026. 04. 15.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7C16E7-616B-4EA5-B3CE-600F8FF7182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200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Redis session </a:t>
            </a:r>
            <a:r>
              <a:rPr lang="en-US" dirty="0" err="1">
                <a:ea typeface="Calibri"/>
                <a:cs typeface="Calibri"/>
              </a:rPr>
              <a:t>kezeles</a:t>
            </a:r>
            <a:r>
              <a:rPr lang="en-US" dirty="0">
                <a:ea typeface="Calibri"/>
                <a:cs typeface="Calibri"/>
              </a:rPr>
              <a:t>: pl </a:t>
            </a:r>
            <a:r>
              <a:rPr lang="en-US" dirty="0" err="1"/>
              <a:t>kosar</a:t>
            </a:r>
            <a:r>
              <a:rPr lang="en-US" dirty="0"/>
              <a:t> </a:t>
            </a:r>
            <a:r>
              <a:rPr lang="en-US" dirty="0" err="1"/>
              <a:t>tartalma</a:t>
            </a:r>
            <a:r>
              <a:rPr lang="en-US" dirty="0"/>
              <a:t> </a:t>
            </a:r>
            <a:r>
              <a:rPr lang="en-US" dirty="0" err="1"/>
              <a:t>webshopnal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adatokat</a:t>
            </a:r>
            <a:r>
              <a:rPr lang="en-US" dirty="0"/>
              <a:t> </a:t>
            </a:r>
            <a:r>
              <a:rPr lang="en-US" dirty="0" err="1"/>
              <a:t>redisben</a:t>
            </a:r>
            <a:r>
              <a:rPr lang="en-US" dirty="0"/>
              <a:t> </a:t>
            </a:r>
            <a:r>
              <a:rPr lang="en-US" dirty="0" err="1"/>
              <a:t>taroljuk</a:t>
            </a:r>
            <a:r>
              <a:rPr lang="en-US" dirty="0"/>
              <a:t> </a:t>
            </a:r>
            <a:r>
              <a:rPr lang="en-US" dirty="0" err="1"/>
              <a:t>kulcs-ertek</a:t>
            </a:r>
            <a:r>
              <a:rPr lang="en-US" dirty="0"/>
              <a:t> </a:t>
            </a:r>
            <a:r>
              <a:rPr lang="en-US" dirty="0" err="1"/>
              <a:t>formaban</a:t>
            </a:r>
            <a:endParaRPr lang="en-US" dirty="0" err="1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C16E7-616B-4EA5-B3CE-600F8FF71826}" type="slidenum"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1885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Apache Lucene </a:t>
            </a:r>
            <a:r>
              <a:rPr lang="en-US" dirty="0" err="1"/>
              <a:t>javaban</a:t>
            </a:r>
            <a:r>
              <a:rPr lang="en-US" dirty="0"/>
              <a:t> </a:t>
            </a:r>
            <a:r>
              <a:rPr lang="en-US" dirty="0" err="1"/>
              <a:t>írt</a:t>
            </a:r>
            <a:r>
              <a:rPr lang="en-US" dirty="0"/>
              <a:t> Full-text search 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egyebkent</a:t>
            </a:r>
            <a:r>
              <a:rPr lang="en-US" dirty="0"/>
              <a:t> open source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r>
              <a:rPr lang="en-US" dirty="0" err="1"/>
              <a:t>közel</a:t>
            </a:r>
            <a:r>
              <a:rPr lang="en-US" dirty="0"/>
              <a:t> </a:t>
            </a:r>
            <a:r>
              <a:rPr lang="en-US" dirty="0" err="1"/>
              <a:t>valós</a:t>
            </a:r>
            <a:r>
              <a:rPr lang="en-US" dirty="0"/>
              <a:t> </a:t>
            </a:r>
            <a:r>
              <a:rPr lang="en-US" dirty="0" err="1"/>
              <a:t>idejű</a:t>
            </a:r>
            <a:r>
              <a:rPr lang="en-US" dirty="0"/>
              <a:t> </a:t>
            </a:r>
            <a:r>
              <a:rPr lang="en-US" dirty="0" err="1"/>
              <a:t>működés</a:t>
            </a:r>
            <a:r>
              <a:rPr lang="en-US" dirty="0"/>
              <a:t> </a:t>
            </a:r>
            <a:r>
              <a:rPr lang="en-US" dirty="0" err="1"/>
              <a:t>mivel</a:t>
            </a:r>
            <a:r>
              <a:rPr lang="en-US" dirty="0"/>
              <a:t> </a:t>
            </a:r>
            <a:r>
              <a:rPr lang="en-US" dirty="0" err="1"/>
              <a:t>memoriaban</a:t>
            </a:r>
            <a:r>
              <a:rPr lang="en-US" dirty="0"/>
              <a:t> van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adatbazisban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Acid: </a:t>
            </a:r>
            <a:r>
              <a:rPr lang="en-US" dirty="0" err="1">
                <a:ea typeface="Calibri"/>
                <a:cs typeface="Calibri"/>
              </a:rPr>
              <a:t>sql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C16E7-616B-4EA5-B3CE-600F8FF71826}" type="slidenum"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384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SQL: ha </a:t>
            </a:r>
            <a:r>
              <a:rPr lang="en-US" dirty="0" err="1">
                <a:ea typeface="Calibri"/>
                <a:cs typeface="Calibri"/>
              </a:rPr>
              <a:t>megbizhato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adatbazis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kell</a:t>
            </a:r>
            <a:r>
              <a:rPr lang="en-US" dirty="0">
                <a:ea typeface="Calibri"/>
                <a:cs typeface="Calibri"/>
              </a:rPr>
              <a:t> pl </a:t>
            </a:r>
            <a:r>
              <a:rPr lang="en-US" dirty="0" err="1">
                <a:ea typeface="Calibri"/>
                <a:cs typeface="Calibri"/>
              </a:rPr>
              <a:t>banki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NOSQL: ha </a:t>
            </a:r>
            <a:r>
              <a:rPr lang="en-US" dirty="0" err="1">
                <a:ea typeface="Calibri"/>
                <a:cs typeface="Calibri"/>
              </a:rPr>
              <a:t>nagyon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nagy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adatbazisban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kell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gyorsan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keresni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C16E7-616B-4EA5-B3CE-600F8FF71826}" type="slidenum"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135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6646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402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720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986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097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1584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336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452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52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4553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3477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769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17" r:id="rId6"/>
    <p:sldLayoutId id="2147483713" r:id="rId7"/>
    <p:sldLayoutId id="2147483714" r:id="rId8"/>
    <p:sldLayoutId id="2147483715" r:id="rId9"/>
    <p:sldLayoutId id="2147483716" r:id="rId10"/>
    <p:sldLayoutId id="214748371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F7D2AA-EFBB-FA85-B769-201F558749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577" r="8" b="4315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44CD100-6267-4E62-AA64-2182A3A6A1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en-GB" sz="4800">
                <a:solidFill>
                  <a:schemeClr val="bg1"/>
                </a:solidFill>
              </a:rPr>
              <a:t>NoSQL, SQL, Elastic Search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GB" sz="2000">
                <a:solidFill>
                  <a:schemeClr val="bg1"/>
                </a:solidFill>
              </a:rPr>
              <a:t>Készitette: Luka Podiashvili, Börzsönyi Gergő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7A0B8-83CD-0DA8-E65E-E22A7DA4E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 </a:t>
            </a:r>
            <a:r>
              <a:rPr lang="en-GB" dirty="0" err="1"/>
              <a:t>az</a:t>
            </a:r>
            <a:r>
              <a:rPr lang="en-GB" dirty="0"/>
              <a:t> SQL?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355BCC-80F5-9891-389B-3CFFE5D23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 err="1"/>
              <a:t>Relációs</a:t>
            </a:r>
            <a:r>
              <a:rPr lang="en-GB" dirty="0"/>
              <a:t> </a:t>
            </a:r>
            <a:r>
              <a:rPr lang="en-GB" dirty="0" err="1"/>
              <a:t>adatbázis</a:t>
            </a:r>
            <a:endParaRPr lang="en-GB" dirty="0"/>
          </a:p>
          <a:p>
            <a:r>
              <a:rPr lang="en-GB" dirty="0" err="1"/>
              <a:t>Táblákból</a:t>
            </a:r>
            <a:r>
              <a:rPr lang="en-GB" dirty="0"/>
              <a:t> </a:t>
            </a:r>
            <a:r>
              <a:rPr lang="en-GB" dirty="0" err="1"/>
              <a:t>áll</a:t>
            </a:r>
            <a:r>
              <a:rPr lang="en-GB" dirty="0"/>
              <a:t> (</a:t>
            </a:r>
            <a:r>
              <a:rPr lang="en-GB" dirty="0" err="1"/>
              <a:t>sorok</a:t>
            </a:r>
            <a:r>
              <a:rPr lang="en-GB" dirty="0"/>
              <a:t>, </a:t>
            </a:r>
            <a:r>
              <a:rPr lang="en-GB" dirty="0" err="1"/>
              <a:t>oszlopok</a:t>
            </a:r>
            <a:r>
              <a:rPr lang="en-GB" dirty="0"/>
              <a:t>)</a:t>
            </a:r>
          </a:p>
          <a:p>
            <a:r>
              <a:rPr lang="en-GB" dirty="0" err="1"/>
              <a:t>Strukturált</a:t>
            </a:r>
            <a:r>
              <a:rPr lang="en-GB" dirty="0"/>
              <a:t> </a:t>
            </a:r>
            <a:r>
              <a:rPr lang="en-GB" dirty="0" err="1"/>
              <a:t>adat</a:t>
            </a:r>
          </a:p>
          <a:p>
            <a:r>
              <a:rPr lang="en-GB" dirty="0" err="1"/>
              <a:t>Példák</a:t>
            </a:r>
            <a:r>
              <a:rPr lang="en-GB" dirty="0"/>
              <a:t>: MySQL, SQLite</a:t>
            </a:r>
          </a:p>
        </p:txBody>
      </p:sp>
    </p:spTree>
    <p:extLst>
      <p:ext uri="{BB962C8B-B14F-4D97-AF65-F5344CB8AC3E}">
        <p14:creationId xmlns:p14="http://schemas.microsoft.com/office/powerpoint/2010/main" val="2652087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F263B-A652-181B-673E-98A944A25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+mj-lt"/>
                <a:cs typeface="+mj-lt"/>
              </a:rPr>
              <a:t>ACID </a:t>
            </a:r>
            <a:r>
              <a:rPr lang="en-GB" dirty="0" err="1">
                <a:ea typeface="+mj-lt"/>
                <a:cs typeface="+mj-lt"/>
              </a:rPr>
              <a:t>tulajdonságok</a:t>
            </a:r>
            <a:r>
              <a:rPr lang="en-GB" dirty="0">
                <a:ea typeface="+mj-lt"/>
                <a:cs typeface="+mj-lt"/>
              </a:rPr>
              <a:t> SQL-ben</a:t>
            </a:r>
            <a:endParaRPr lang="en-US" dirty="0">
              <a:ea typeface="+mj-lt"/>
              <a:cs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4BCC9-4C85-A19D-F0D9-4B1E5D9446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025" y="2259606"/>
            <a:ext cx="10168128" cy="369417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/>
              <a:t>Az ACID a </a:t>
            </a:r>
            <a:r>
              <a:rPr lang="en-GB" dirty="0" err="1"/>
              <a:t>tranzakciók</a:t>
            </a:r>
            <a:r>
              <a:rPr lang="en-GB" dirty="0"/>
              <a:t> </a:t>
            </a:r>
            <a:r>
              <a:rPr lang="en-GB" dirty="0" err="1"/>
              <a:t>működésének</a:t>
            </a:r>
            <a:r>
              <a:rPr lang="en-GB" dirty="0"/>
              <a:t> </a:t>
            </a:r>
            <a:r>
              <a:rPr lang="en-GB" dirty="0" err="1"/>
              <a:t>szabályrendszere</a:t>
            </a:r>
            <a:endParaRPr lang="en-GB" dirty="0"/>
          </a:p>
          <a:p>
            <a:endParaRPr lang="en-GB" dirty="0"/>
          </a:p>
          <a:p>
            <a:r>
              <a:rPr lang="en-GB" i="1" dirty="0"/>
              <a:t>Atomicity</a:t>
            </a:r>
            <a:r>
              <a:rPr lang="en-GB" dirty="0"/>
              <a:t> = Minden </a:t>
            </a:r>
            <a:r>
              <a:rPr lang="en-GB" dirty="0" err="1"/>
              <a:t>vagy</a:t>
            </a:r>
            <a:r>
              <a:rPr lang="en-GB" dirty="0"/>
              <a:t> </a:t>
            </a:r>
            <a:r>
              <a:rPr lang="en-GB" dirty="0" err="1"/>
              <a:t>semmi</a:t>
            </a:r>
            <a:r>
              <a:rPr lang="en-GB" dirty="0"/>
              <a:t> (</a:t>
            </a:r>
            <a:r>
              <a:rPr lang="en-GB" dirty="0" err="1"/>
              <a:t>hiba</a:t>
            </a:r>
            <a:r>
              <a:rPr lang="en-GB" dirty="0"/>
              <a:t> </a:t>
            </a:r>
            <a:r>
              <a:rPr lang="en-GB" dirty="0" err="1"/>
              <a:t>esetén</a:t>
            </a:r>
            <a:r>
              <a:rPr lang="en-GB" dirty="0"/>
              <a:t> </a:t>
            </a:r>
            <a:r>
              <a:rPr lang="en-GB" dirty="0" err="1"/>
              <a:t>visszavonás</a:t>
            </a:r>
            <a:r>
              <a:rPr lang="en-GB" dirty="0"/>
              <a:t>)</a:t>
            </a:r>
          </a:p>
          <a:p>
            <a:r>
              <a:rPr lang="en-GB" i="1" dirty="0"/>
              <a:t>Consistency</a:t>
            </a:r>
            <a:r>
              <a:rPr lang="en-GB" dirty="0"/>
              <a:t> = Az </a:t>
            </a:r>
            <a:r>
              <a:rPr lang="en-GB" dirty="0" err="1"/>
              <a:t>adatbázis</a:t>
            </a:r>
            <a:r>
              <a:rPr lang="en-GB" dirty="0"/>
              <a:t> </a:t>
            </a:r>
            <a:r>
              <a:rPr lang="en-GB" dirty="0" err="1"/>
              <a:t>mindig</a:t>
            </a:r>
            <a:r>
              <a:rPr lang="en-GB" dirty="0"/>
              <a:t> </a:t>
            </a:r>
            <a:r>
              <a:rPr lang="en-GB" dirty="0" err="1"/>
              <a:t>helyes</a:t>
            </a:r>
            <a:r>
              <a:rPr lang="en-GB" dirty="0"/>
              <a:t> </a:t>
            </a:r>
            <a:r>
              <a:rPr lang="en-GB" dirty="0" err="1"/>
              <a:t>állapotban</a:t>
            </a:r>
            <a:r>
              <a:rPr lang="en-GB" dirty="0"/>
              <a:t> </a:t>
            </a:r>
            <a:r>
              <a:rPr lang="en-GB" dirty="0" err="1"/>
              <a:t>marad</a:t>
            </a:r>
            <a:endParaRPr lang="en-GB" dirty="0"/>
          </a:p>
          <a:p>
            <a:r>
              <a:rPr lang="en-GB" i="1" dirty="0"/>
              <a:t>Isolation</a:t>
            </a:r>
            <a:r>
              <a:rPr lang="en-GB" dirty="0"/>
              <a:t> = </a:t>
            </a:r>
            <a:r>
              <a:rPr lang="en-GB" dirty="0" err="1"/>
              <a:t>Tranzakciók</a:t>
            </a:r>
            <a:r>
              <a:rPr lang="en-GB" dirty="0"/>
              <a:t> </a:t>
            </a:r>
            <a:r>
              <a:rPr lang="en-GB" dirty="0" err="1"/>
              <a:t>nem</a:t>
            </a:r>
            <a:r>
              <a:rPr lang="en-GB" dirty="0"/>
              <a:t> </a:t>
            </a:r>
            <a:r>
              <a:rPr lang="en-GB" dirty="0" err="1"/>
              <a:t>zavarják</a:t>
            </a:r>
            <a:r>
              <a:rPr lang="en-GB" dirty="0"/>
              <a:t> </a:t>
            </a:r>
            <a:r>
              <a:rPr lang="en-GB" dirty="0" err="1"/>
              <a:t>egymást</a:t>
            </a:r>
            <a:endParaRPr lang="en-GB" dirty="0"/>
          </a:p>
          <a:p>
            <a:r>
              <a:rPr lang="en-GB" i="1" dirty="0"/>
              <a:t>Durability</a:t>
            </a:r>
            <a:r>
              <a:rPr lang="en-GB" dirty="0"/>
              <a:t> = </a:t>
            </a:r>
            <a:r>
              <a:rPr lang="en-GB" dirty="0" err="1"/>
              <a:t>Mentett</a:t>
            </a:r>
            <a:r>
              <a:rPr lang="en-GB" dirty="0"/>
              <a:t> </a:t>
            </a:r>
            <a:r>
              <a:rPr lang="en-GB" dirty="0" err="1"/>
              <a:t>adatok</a:t>
            </a:r>
            <a:r>
              <a:rPr lang="en-GB" dirty="0"/>
              <a:t> </a:t>
            </a:r>
            <a:r>
              <a:rPr lang="en-GB" dirty="0" err="1"/>
              <a:t>nem</a:t>
            </a:r>
            <a:r>
              <a:rPr lang="en-GB" dirty="0"/>
              <a:t> </a:t>
            </a:r>
            <a:r>
              <a:rPr lang="en-GB" dirty="0" err="1"/>
              <a:t>vesznek</a:t>
            </a:r>
            <a:r>
              <a:rPr lang="en-GB" dirty="0"/>
              <a:t> </a:t>
            </a:r>
            <a:r>
              <a:rPr lang="en-GB" dirty="0" err="1"/>
              <a:t>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2948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EEB55-547C-FCDF-229A-090DB5461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 a </a:t>
            </a:r>
            <a:r>
              <a:rPr lang="en-GB"/>
              <a:t>NoSQL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EAC592-398C-C91C-176B-D3569E73E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Nem </a:t>
            </a:r>
            <a:r>
              <a:rPr lang="en-GB" dirty="0" err="1"/>
              <a:t>relációs</a:t>
            </a:r>
            <a:r>
              <a:rPr lang="en-GB" dirty="0"/>
              <a:t> </a:t>
            </a:r>
            <a:r>
              <a:rPr lang="en-GB" dirty="0" err="1"/>
              <a:t>adatbázis</a:t>
            </a:r>
            <a:endParaRPr lang="en-GB" dirty="0"/>
          </a:p>
          <a:p>
            <a:r>
              <a:rPr lang="en-GB" dirty="0" err="1"/>
              <a:t>Rugalmas</a:t>
            </a:r>
            <a:r>
              <a:rPr lang="en-GB" dirty="0"/>
              <a:t> </a:t>
            </a:r>
            <a:r>
              <a:rPr lang="en-GB" dirty="0" err="1"/>
              <a:t>adatmodell</a:t>
            </a:r>
          </a:p>
          <a:p>
            <a:r>
              <a:rPr lang="en-GB" dirty="0"/>
              <a:t>JSON / </a:t>
            </a:r>
            <a:r>
              <a:rPr lang="en-GB" dirty="0" err="1"/>
              <a:t>dokumetnum</a:t>
            </a:r>
            <a:r>
              <a:rPr lang="en-GB" dirty="0"/>
              <a:t> </a:t>
            </a:r>
            <a:r>
              <a:rPr lang="en-GB" dirty="0" err="1"/>
              <a:t>alapú</a:t>
            </a:r>
            <a:endParaRPr lang="en-GB" dirty="0"/>
          </a:p>
          <a:p>
            <a:r>
              <a:rPr lang="en-GB" dirty="0" err="1"/>
              <a:t>Példák</a:t>
            </a:r>
            <a:r>
              <a:rPr lang="en-GB" dirty="0"/>
              <a:t>: MongoDB, Redis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92A3B8-F27A-CC6E-10E4-9ED796C95714}"/>
              </a:ext>
            </a:extLst>
          </p:cNvPr>
          <p:cNvSpPr txBox="1"/>
          <p:nvPr/>
        </p:nvSpPr>
        <p:spPr>
          <a:xfrm>
            <a:off x="1117763" y="5008358"/>
            <a:ext cx="6859627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ea typeface="+mn-lt"/>
                <a:cs typeface="+mn-lt"/>
              </a:rPr>
              <a:t>MongoDB – </a:t>
            </a:r>
            <a:r>
              <a:rPr lang="en-US" sz="1400" dirty="0" err="1">
                <a:ea typeface="+mn-lt"/>
                <a:cs typeface="+mn-lt"/>
              </a:rPr>
              <a:t>dokumentum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alapú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adatbázis</a:t>
            </a:r>
            <a:r>
              <a:rPr lang="en-US" sz="1400" dirty="0">
                <a:ea typeface="+mn-lt"/>
                <a:cs typeface="+mn-lt"/>
              </a:rPr>
              <a:t> (JSON-</a:t>
            </a:r>
            <a:r>
              <a:rPr lang="en-US" sz="1400" dirty="0" err="1">
                <a:ea typeface="+mn-lt"/>
                <a:cs typeface="+mn-lt"/>
              </a:rPr>
              <a:t>szerű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adatok</a:t>
            </a:r>
            <a:r>
              <a:rPr lang="en-US" sz="1400" dirty="0">
                <a:ea typeface="+mn-lt"/>
                <a:cs typeface="+mn-lt"/>
              </a:rPr>
              <a:t>) </a:t>
            </a:r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09816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22440A-CA6A-3A18-FB3E-FB7DEB2B9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/>
          </a:bodyPr>
          <a:lstStyle/>
          <a:p>
            <a:r>
              <a:rPr lang="en-GB" sz="2800"/>
              <a:t>Fő különbségek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5A433-3AFF-3BF3-785B-EE827FA8CC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94" y="2718054"/>
            <a:ext cx="3438906" cy="320725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1700"/>
              <a:t>SQL: fix séma | NOSQL: rugalmas séna</a:t>
            </a:r>
          </a:p>
          <a:p>
            <a:r>
              <a:rPr lang="en-GB" sz="1700"/>
              <a:t>SQL: komplex lekérdezések | NOSQL: gyors olvasás/irás</a:t>
            </a:r>
          </a:p>
          <a:p>
            <a:r>
              <a:rPr lang="en-GB" sz="1700"/>
              <a:t>SQL: ACID | NOSQL: skálázhatóság</a:t>
            </a:r>
          </a:p>
          <a:p>
            <a:r>
              <a:rPr lang="en-GB" sz="1700"/>
              <a:t>SQL: strukturált | NOSQL: </a:t>
            </a:r>
            <a:r>
              <a:rPr lang="en-GB" sz="1700" b="1"/>
              <a:t>(</a:t>
            </a:r>
            <a:r>
              <a:rPr lang="en-GB" sz="1700"/>
              <a:t>félig/nem</a:t>
            </a:r>
            <a:r>
              <a:rPr lang="en-GB" sz="1700" b="1"/>
              <a:t>) </a:t>
            </a:r>
            <a:r>
              <a:rPr lang="en-GB" sz="1700"/>
              <a:t>strukturált </a:t>
            </a:r>
          </a:p>
          <a:p>
            <a:endParaRPr lang="en-GB" sz="1700"/>
          </a:p>
        </p:txBody>
      </p:sp>
      <p:pic>
        <p:nvPicPr>
          <p:cNvPr id="4" name="Picture 3" descr="SQL vs NoSQL - 7 Key Differences You Must Know">
            <a:extLst>
              <a:ext uri="{FF2B5EF4-FFF2-40B4-BE49-F238E27FC236}">
                <a16:creationId xmlns:a16="http://schemas.microsoft.com/office/drawing/2014/main" id="{9A6C8A95-8378-39AE-1554-7A13034A4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195029"/>
            <a:ext cx="6922008" cy="456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157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4A4F9-121F-DC50-AB45-B19769E6C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NOSQL - Redis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0D858-6851-EBE4-E050-BC262E5C6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919028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dirty="0">
                <a:ea typeface="+mn-lt"/>
                <a:cs typeface="+mn-lt"/>
              </a:rPr>
              <a:t>In-memory (</a:t>
            </a:r>
            <a:r>
              <a:rPr lang="en-US" dirty="0" err="1">
                <a:ea typeface="+mn-lt"/>
                <a:cs typeface="+mn-lt"/>
              </a:rPr>
              <a:t>memóriában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tárol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adatokat</a:t>
            </a:r>
            <a:r>
              <a:rPr lang="en-US" dirty="0">
                <a:ea typeface="+mn-lt"/>
                <a:cs typeface="+mn-lt"/>
              </a:rPr>
              <a:t>) 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 err="1">
                <a:ea typeface="+mn-lt"/>
                <a:cs typeface="+mn-lt"/>
              </a:rPr>
              <a:t>Kulcs</a:t>
            </a:r>
            <a:r>
              <a:rPr lang="en-US" dirty="0">
                <a:ea typeface="+mn-lt"/>
                <a:cs typeface="+mn-lt"/>
              </a:rPr>
              <a:t>–</a:t>
            </a:r>
            <a:r>
              <a:rPr lang="en-US" dirty="0" err="1">
                <a:ea typeface="+mn-lt"/>
                <a:cs typeface="+mn-lt"/>
              </a:rPr>
              <a:t>érték</a:t>
            </a:r>
            <a:r>
              <a:rPr lang="en-US" dirty="0">
                <a:ea typeface="+mn-lt"/>
                <a:cs typeface="+mn-lt"/>
              </a:rPr>
              <a:t> (key-value) </a:t>
            </a:r>
            <a:r>
              <a:rPr lang="en-US" dirty="0" err="1">
                <a:ea typeface="+mn-lt"/>
                <a:cs typeface="+mn-lt"/>
              </a:rPr>
              <a:t>adatbázis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 err="1">
                <a:ea typeface="+mn-lt"/>
                <a:cs typeface="+mn-lt"/>
              </a:rPr>
              <a:t>Nagyon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gyors</a:t>
            </a:r>
            <a:r>
              <a:rPr lang="en-US" dirty="0">
                <a:ea typeface="+mn-lt"/>
                <a:cs typeface="+mn-lt"/>
              </a:rPr>
              <a:t> (cache-</a:t>
            </a:r>
            <a:r>
              <a:rPr lang="en-US" dirty="0" err="1">
                <a:ea typeface="+mn-lt"/>
                <a:cs typeface="+mn-lt"/>
              </a:rPr>
              <a:t>elésre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ideális</a:t>
            </a:r>
            <a:r>
              <a:rPr lang="en-US" dirty="0">
                <a:ea typeface="+mn-lt"/>
                <a:cs typeface="+mn-lt"/>
              </a:rPr>
              <a:t>) </a:t>
            </a:r>
            <a:endParaRPr lang="en-US" dirty="0"/>
          </a:p>
          <a:p>
            <a:pPr marL="0" indent="0">
              <a:lnSpc>
                <a:spcPct val="90000"/>
              </a:lnSpc>
              <a:buNone/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>
                <a:ea typeface="+mn-lt"/>
                <a:cs typeface="+mn-lt"/>
              </a:rPr>
              <a:t>Session </a:t>
            </a:r>
            <a:r>
              <a:rPr lang="en-US" dirty="0" err="1">
                <a:ea typeface="+mn-lt"/>
                <a:cs typeface="+mn-lt"/>
              </a:rPr>
              <a:t>kezelés</a:t>
            </a:r>
            <a:endParaRPr lang="en-US" dirty="0" err="1"/>
          </a:p>
          <a:p>
            <a:pPr>
              <a:lnSpc>
                <a:spcPct val="90000"/>
              </a:lnSpc>
            </a:pPr>
            <a:endParaRPr lang="en-US" dirty="0">
              <a:ea typeface="+mn-lt"/>
              <a:cs typeface="+mn-lt"/>
            </a:endParaRPr>
          </a:p>
          <a:p>
            <a:pPr>
              <a:lnSpc>
                <a:spcPct val="90000"/>
              </a:lnSpc>
            </a:pPr>
            <a:r>
              <a:rPr lang="en-US" dirty="0" err="1">
                <a:ea typeface="+mn-lt"/>
                <a:cs typeface="+mn-lt"/>
              </a:rPr>
              <a:t>Valós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idejű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alkalmazások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>
                <a:ea typeface="+mn-lt"/>
                <a:cs typeface="+mn-lt"/>
              </a:rPr>
              <a:t>Előny: </a:t>
            </a:r>
            <a:r>
              <a:rPr lang="en-US" dirty="0" err="1">
                <a:ea typeface="+mn-lt"/>
                <a:cs typeface="+mn-lt"/>
              </a:rPr>
              <a:t>Extrém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gyors</a:t>
            </a:r>
            <a:endParaRPr lang="en-US" dirty="0" err="1"/>
          </a:p>
          <a:p>
            <a:pPr>
              <a:lnSpc>
                <a:spcPct val="90000"/>
              </a:lnSpc>
            </a:pPr>
            <a:r>
              <a:rPr lang="en-US" dirty="0" err="1">
                <a:ea typeface="+mn-lt"/>
                <a:cs typeface="+mn-lt"/>
              </a:rPr>
              <a:t>Hátrány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dirty="0" err="1">
                <a:ea typeface="+mn-lt"/>
                <a:cs typeface="+mn-lt"/>
              </a:rPr>
              <a:t>Memóriafüggő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adatvesztés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lehet</a:t>
            </a:r>
            <a:r>
              <a:rPr lang="en-US" dirty="0">
                <a:ea typeface="+mn-lt"/>
                <a:cs typeface="+mn-lt"/>
              </a:rPr>
              <a:t>, ha </a:t>
            </a:r>
            <a:r>
              <a:rPr lang="en-US" dirty="0" err="1">
                <a:ea typeface="+mn-lt"/>
                <a:cs typeface="+mn-lt"/>
              </a:rPr>
              <a:t>nincs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mentés</a:t>
            </a:r>
            <a:r>
              <a:rPr lang="en-US" dirty="0">
                <a:ea typeface="+mn-lt"/>
                <a:cs typeface="+mn-lt"/>
              </a:rPr>
              <a:t>)</a:t>
            </a:r>
            <a:endParaRPr lang="en-US"/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2D117A64-25BB-3A4A-EC7F-61DA2443D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3065" y="3918368"/>
            <a:ext cx="4582461" cy="832578"/>
          </a:xfrm>
          <a:prstGeom prst="rect">
            <a:avLst/>
          </a:prstGeom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1AF96909-4617-6D0F-7143-9FC480361F39}"/>
              </a:ext>
            </a:extLst>
          </p:cNvPr>
          <p:cNvSpPr/>
          <p:nvPr/>
        </p:nvSpPr>
        <p:spPr>
          <a:xfrm>
            <a:off x="3866122" y="4125372"/>
            <a:ext cx="2330716" cy="303966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344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6DE51-2FD8-E60C-B979-EF19298C3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NOSQL - Elasticsearch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59618-FE93-D299-585C-B961FE494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1848150"/>
            <a:ext cx="10851974" cy="4324050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dirty="0" err="1">
                <a:ea typeface="+mn-lt"/>
                <a:cs typeface="+mn-lt"/>
              </a:rPr>
              <a:t>Elosztott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kereső</a:t>
            </a:r>
            <a:r>
              <a:rPr lang="en-US" dirty="0">
                <a:ea typeface="+mn-lt"/>
                <a:cs typeface="+mn-lt"/>
              </a:rPr>
              <a:t>- </a:t>
            </a:r>
            <a:r>
              <a:rPr lang="en-US" dirty="0" err="1">
                <a:ea typeface="+mn-lt"/>
                <a:cs typeface="+mn-lt"/>
              </a:rPr>
              <a:t>és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analitikai</a:t>
            </a:r>
            <a:r>
              <a:rPr lang="en-US" dirty="0">
                <a:ea typeface="+mn-lt"/>
                <a:cs typeface="+mn-lt"/>
              </a:rPr>
              <a:t> motor 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>
                <a:ea typeface="+mn-lt"/>
                <a:cs typeface="+mn-lt"/>
              </a:rPr>
              <a:t>JSON </a:t>
            </a:r>
            <a:r>
              <a:rPr lang="en-US" dirty="0" err="1">
                <a:ea typeface="+mn-lt"/>
                <a:cs typeface="+mn-lt"/>
              </a:rPr>
              <a:t>dokumentumokat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kezel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 err="1">
                <a:ea typeface="+mn-lt"/>
                <a:cs typeface="+mn-lt"/>
              </a:rPr>
              <a:t>Alapja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az</a:t>
            </a:r>
            <a:r>
              <a:rPr lang="en-US" dirty="0">
                <a:ea typeface="+mn-lt"/>
                <a:cs typeface="+mn-lt"/>
              </a:rPr>
              <a:t> Apache Lucene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b="1" dirty="0" err="1">
                <a:ea typeface="+mn-lt"/>
                <a:cs typeface="+mn-lt"/>
              </a:rPr>
              <a:t>Gyors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keresés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nagy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adathalmazban</a:t>
            </a:r>
            <a:r>
              <a:rPr lang="en-US" b="1" dirty="0">
                <a:ea typeface="+mn-lt"/>
                <a:cs typeface="+mn-lt"/>
              </a:rPr>
              <a:t> </a:t>
            </a:r>
            <a:endParaRPr lang="en-US" b="1" dirty="0"/>
          </a:p>
          <a:p>
            <a:pPr>
              <a:lnSpc>
                <a:spcPct val="90000"/>
              </a:lnSpc>
            </a:pPr>
            <a:r>
              <a:rPr lang="en-US" dirty="0">
                <a:ea typeface="+mn-lt"/>
                <a:cs typeface="+mn-lt"/>
              </a:rPr>
              <a:t>Log </a:t>
            </a:r>
            <a:r>
              <a:rPr lang="en-US" dirty="0" err="1">
                <a:ea typeface="+mn-lt"/>
                <a:cs typeface="+mn-lt"/>
              </a:rPr>
              <a:t>elemzés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>
                <a:ea typeface="+mn-lt"/>
                <a:cs typeface="+mn-lt"/>
              </a:rPr>
              <a:t>Webes </a:t>
            </a:r>
            <a:r>
              <a:rPr lang="en-US" dirty="0" err="1">
                <a:ea typeface="+mn-lt"/>
                <a:cs typeface="+mn-lt"/>
              </a:rPr>
              <a:t>keresők</a:t>
            </a:r>
            <a:r>
              <a:rPr lang="en-US" dirty="0">
                <a:ea typeface="+mn-lt"/>
                <a:cs typeface="+mn-lt"/>
              </a:rPr>
              <a:t> (pl. </a:t>
            </a:r>
            <a:r>
              <a:rPr lang="en-US" dirty="0" err="1">
                <a:ea typeface="+mn-lt"/>
                <a:cs typeface="+mn-lt"/>
              </a:rPr>
              <a:t>webshop</a:t>
            </a:r>
            <a:r>
              <a:rPr lang="en-US" dirty="0">
                <a:ea typeface="+mn-lt"/>
                <a:cs typeface="+mn-lt"/>
              </a:rPr>
              <a:t>) 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 err="1">
                <a:ea typeface="+mn-lt"/>
                <a:cs typeface="+mn-lt"/>
              </a:rPr>
              <a:t>Előnyök</a:t>
            </a:r>
            <a:r>
              <a:rPr lang="en-US" dirty="0">
                <a:ea typeface="+mn-lt"/>
                <a:cs typeface="+mn-lt"/>
              </a:rPr>
              <a:t>: </a:t>
            </a:r>
            <a:r>
              <a:rPr lang="en-US" dirty="0" err="1">
                <a:ea typeface="+mn-lt"/>
                <a:cs typeface="+mn-lt"/>
              </a:rPr>
              <a:t>Nagyon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gyors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keresés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közel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valós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idejű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működés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 err="1">
                <a:ea typeface="+mn-lt"/>
                <a:cs typeface="+mn-lt"/>
              </a:rPr>
              <a:t>Hátrányok</a:t>
            </a:r>
            <a:r>
              <a:rPr lang="en-US" dirty="0">
                <a:ea typeface="+mn-lt"/>
                <a:cs typeface="+mn-lt"/>
              </a:rPr>
              <a:t>: Nagy </a:t>
            </a:r>
            <a:r>
              <a:rPr lang="en-US" dirty="0" err="1">
                <a:ea typeface="+mn-lt"/>
                <a:cs typeface="+mn-lt"/>
              </a:rPr>
              <a:t>erőforrás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igény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nem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klasszikus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adatbázis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pl:acid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bonyolultabb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konfiguráció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6639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B42AF-D2CE-8C6D-D5EA-10594770E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400" dirty="0" err="1"/>
              <a:t>Mikor</a:t>
            </a:r>
            <a:r>
              <a:rPr lang="en-GB" sz="4400" dirty="0"/>
              <a:t> </a:t>
            </a:r>
            <a:r>
              <a:rPr lang="en-GB" sz="4400" dirty="0" err="1"/>
              <a:t>melyiket</a:t>
            </a:r>
            <a:r>
              <a:rPr lang="en-GB" sz="4400" dirty="0"/>
              <a:t> </a:t>
            </a:r>
            <a:r>
              <a:rPr lang="en-GB" sz="4400" dirty="0" err="1"/>
              <a:t>érdemes</a:t>
            </a:r>
            <a:r>
              <a:rPr lang="en-GB" sz="4400" dirty="0"/>
              <a:t> </a:t>
            </a:r>
            <a:r>
              <a:rPr lang="en-GB" sz="4400" dirty="0" err="1"/>
              <a:t>használni</a:t>
            </a:r>
            <a:r>
              <a:rPr lang="en-GB" sz="4400" dirty="0"/>
              <a:t>? 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5E57F-C073-9CCB-9458-75945F62F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sz="3200" dirty="0"/>
              <a:t>SQL: </a:t>
            </a:r>
            <a:r>
              <a:rPr lang="en-GB" sz="3200" dirty="0" err="1"/>
              <a:t>Maximális</a:t>
            </a:r>
            <a:r>
              <a:rPr lang="en-GB" sz="3200" dirty="0"/>
              <a:t> </a:t>
            </a:r>
            <a:r>
              <a:rPr lang="en-GB" sz="3200" dirty="0" err="1"/>
              <a:t>megbízhatóság</a:t>
            </a:r>
            <a:endParaRPr lang="en-GB" sz="3200"/>
          </a:p>
          <a:p>
            <a:pPr lvl="1">
              <a:buFont typeface="Courier New" panose="020B0604020202020204" pitchFamily="34" charset="0"/>
              <a:buChar char="o"/>
            </a:pPr>
            <a:r>
              <a:rPr lang="en-GB" sz="2800" dirty="0"/>
              <a:t>Banki </a:t>
            </a:r>
            <a:r>
              <a:rPr lang="en-GB" sz="2800" dirty="0" err="1"/>
              <a:t>rendszerek</a:t>
            </a:r>
            <a:endParaRPr lang="en-GB" sz="2800"/>
          </a:p>
          <a:p>
            <a:r>
              <a:rPr lang="en-GB" sz="3200" dirty="0"/>
              <a:t>NOSQL: Nagy </a:t>
            </a:r>
            <a:r>
              <a:rPr lang="en-GB" sz="3200" dirty="0" err="1"/>
              <a:t>adatmennyiség</a:t>
            </a:r>
            <a:endParaRPr lang="en-GB" sz="3200"/>
          </a:p>
          <a:p>
            <a:pPr lvl="1">
              <a:buFont typeface="Courier New" panose="020B0604020202020204" pitchFamily="34" charset="0"/>
              <a:buChar char="o"/>
            </a:pPr>
            <a:r>
              <a:rPr lang="en-GB" sz="2800" dirty="0" err="1"/>
              <a:t>Webshopok</a:t>
            </a:r>
            <a:endParaRPr lang="en-GB" sz="2800"/>
          </a:p>
        </p:txBody>
      </p:sp>
    </p:spTree>
    <p:extLst>
      <p:ext uri="{BB962C8B-B14F-4D97-AF65-F5344CB8AC3E}">
        <p14:creationId xmlns:p14="http://schemas.microsoft.com/office/powerpoint/2010/main" val="3477171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7B0BE9-C02D-D784-BBC2-BFE0BAFEB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 err="1"/>
              <a:t>Köszönjük</a:t>
            </a:r>
            <a:r>
              <a:rPr lang="en-US" sz="4800" dirty="0"/>
              <a:t> a </a:t>
            </a:r>
            <a:r>
              <a:rPr lang="en-US" sz="4800" dirty="0" err="1"/>
              <a:t>figyelmet</a:t>
            </a:r>
            <a:r>
              <a:rPr lang="en-US" sz="4800" dirty="0"/>
              <a:t>!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 descr="Like">
            <a:extLst>
              <a:ext uri="{FF2B5EF4-FFF2-40B4-BE49-F238E27FC236}">
                <a16:creationId xmlns:a16="http://schemas.microsoft.com/office/drawing/2014/main" id="{4DD8696E-C0E8-3D41-376D-159762F65A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0099" y="625683"/>
            <a:ext cx="5455380" cy="545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888516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</TotalTime>
  <Words>336</Words>
  <Application>Microsoft Office PowerPoint</Application>
  <PresentationFormat>Szélesvásznú</PresentationFormat>
  <Paragraphs>59</Paragraphs>
  <Slides>9</Slides>
  <Notes>3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4" baseType="lpstr">
      <vt:lpstr>Arial</vt:lpstr>
      <vt:lpstr>Avenir Next LT Pro</vt:lpstr>
      <vt:lpstr>Calibri</vt:lpstr>
      <vt:lpstr>Courier New</vt:lpstr>
      <vt:lpstr>AccentBoxVTI</vt:lpstr>
      <vt:lpstr>NoSQL, SQL, Elastic Search</vt:lpstr>
      <vt:lpstr>Mi az SQL?</vt:lpstr>
      <vt:lpstr>ACID tulajdonságok SQL-ben</vt:lpstr>
      <vt:lpstr>Mi a NoSQL</vt:lpstr>
      <vt:lpstr>Fő különbségek</vt:lpstr>
      <vt:lpstr>NOSQL - Redis</vt:lpstr>
      <vt:lpstr>NOSQL - Elasticsearch</vt:lpstr>
      <vt:lpstr>Mikor melyiket érdemes használni? 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NoSQL, SQL, Elastic Search</dc:title>
  <dc:creator/>
  <cp:lastModifiedBy>Podiashvili Luka 956</cp:lastModifiedBy>
  <cp:revision>174</cp:revision>
  <dcterms:created xsi:type="dcterms:W3CDTF">2026-03-31T12:14:25Z</dcterms:created>
  <dcterms:modified xsi:type="dcterms:W3CDTF">2026-04-15T06:08:33Z</dcterms:modified>
</cp:coreProperties>
</file>