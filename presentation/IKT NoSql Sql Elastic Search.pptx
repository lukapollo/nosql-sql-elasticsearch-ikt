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730699-C387-F3AA-CD03-6BA47E2D74A8}" v="179" dt="2026-04-13T15:55:23.9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4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402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2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986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097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158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33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45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5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55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47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69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7D2AA-EFBB-FA85-B769-201F55874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577" r="8" b="431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GB" sz="4800">
                <a:solidFill>
                  <a:schemeClr val="bg1"/>
                </a:solidFill>
              </a:rPr>
              <a:t>NoSQL, SQL, Elastic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2000">
                <a:solidFill>
                  <a:schemeClr val="bg1"/>
                </a:solidFill>
              </a:rPr>
              <a:t>Készitette: Luka Podiashvili, Börzsönyi Gergő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7A0B8-83CD-0DA8-E65E-E22A7DA4E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</a:t>
            </a:r>
            <a:r>
              <a:rPr lang="en-GB" dirty="0" err="1"/>
              <a:t>az</a:t>
            </a:r>
            <a:r>
              <a:rPr lang="en-GB" dirty="0"/>
              <a:t> SQL?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55BCC-80F5-9891-389B-3CFFE5D23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Táblákból</a:t>
            </a:r>
            <a:r>
              <a:rPr lang="en-GB" dirty="0"/>
              <a:t> </a:t>
            </a:r>
            <a:r>
              <a:rPr lang="en-GB" dirty="0" err="1"/>
              <a:t>áll</a:t>
            </a:r>
            <a:r>
              <a:rPr lang="en-GB" dirty="0"/>
              <a:t> (</a:t>
            </a:r>
            <a:r>
              <a:rPr lang="en-GB" dirty="0" err="1"/>
              <a:t>sorok</a:t>
            </a:r>
            <a:r>
              <a:rPr lang="en-GB" dirty="0"/>
              <a:t>, </a:t>
            </a:r>
            <a:r>
              <a:rPr lang="en-GB" dirty="0" err="1"/>
              <a:t>oszlopok</a:t>
            </a:r>
            <a:r>
              <a:rPr lang="en-GB" dirty="0"/>
              <a:t>)</a:t>
            </a:r>
          </a:p>
          <a:p>
            <a:r>
              <a:rPr lang="en-GB" dirty="0" err="1"/>
              <a:t>Strukturált</a:t>
            </a:r>
            <a:r>
              <a:rPr lang="en-GB" dirty="0"/>
              <a:t> </a:t>
            </a:r>
            <a:r>
              <a:rPr lang="en-GB" dirty="0" err="1"/>
              <a:t>adat</a:t>
            </a:r>
          </a:p>
          <a:p>
            <a:r>
              <a:rPr lang="en-GB" dirty="0" err="1"/>
              <a:t>Példák</a:t>
            </a:r>
            <a:r>
              <a:rPr lang="en-GB" dirty="0"/>
              <a:t>: MySQL, SQLite</a:t>
            </a:r>
          </a:p>
        </p:txBody>
      </p:sp>
    </p:spTree>
    <p:extLst>
      <p:ext uri="{BB962C8B-B14F-4D97-AF65-F5344CB8AC3E}">
        <p14:creationId xmlns:p14="http://schemas.microsoft.com/office/powerpoint/2010/main" val="2652087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263B-A652-181B-673E-98A944A2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+mj-lt"/>
                <a:cs typeface="+mj-lt"/>
              </a:rPr>
              <a:t>ACID </a:t>
            </a:r>
            <a:r>
              <a:rPr lang="en-GB" dirty="0" err="1">
                <a:ea typeface="+mj-lt"/>
                <a:cs typeface="+mj-lt"/>
              </a:rPr>
              <a:t>tulajdonságok</a:t>
            </a:r>
            <a:r>
              <a:rPr lang="en-GB" dirty="0">
                <a:ea typeface="+mj-lt"/>
                <a:cs typeface="+mj-lt"/>
              </a:rPr>
              <a:t> SQL-ben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4BCC9-4C85-A19D-F0D9-4B1E5D944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414" y="1882101"/>
            <a:ext cx="10168128" cy="3694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Az ACID a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működésének</a:t>
            </a:r>
            <a:r>
              <a:rPr lang="en-GB" dirty="0"/>
              <a:t> </a:t>
            </a:r>
            <a:r>
              <a:rPr lang="en-GB" dirty="0" err="1"/>
              <a:t>szabályrendszere</a:t>
            </a:r>
            <a:endParaRPr lang="en-GB"/>
          </a:p>
          <a:p>
            <a:endParaRPr lang="en-GB"/>
          </a:p>
          <a:p>
            <a:r>
              <a:rPr lang="en-GB" i="1" dirty="0"/>
              <a:t>Atomicity</a:t>
            </a:r>
            <a:r>
              <a:rPr lang="en-GB" dirty="0"/>
              <a:t> = Minden </a:t>
            </a:r>
            <a:r>
              <a:rPr lang="en-GB" dirty="0" err="1"/>
              <a:t>vagy</a:t>
            </a:r>
            <a:r>
              <a:rPr lang="en-GB" dirty="0"/>
              <a:t> </a:t>
            </a:r>
            <a:r>
              <a:rPr lang="en-GB" dirty="0" err="1"/>
              <a:t>semmi</a:t>
            </a:r>
            <a:r>
              <a:rPr lang="en-GB" dirty="0"/>
              <a:t> (</a:t>
            </a:r>
            <a:r>
              <a:rPr lang="en-GB" dirty="0" err="1"/>
              <a:t>hiba</a:t>
            </a:r>
            <a:r>
              <a:rPr lang="en-GB" dirty="0"/>
              <a:t> </a:t>
            </a:r>
            <a:r>
              <a:rPr lang="en-GB" dirty="0" err="1"/>
              <a:t>esetén</a:t>
            </a:r>
            <a:r>
              <a:rPr lang="en-GB" dirty="0"/>
              <a:t> </a:t>
            </a:r>
            <a:r>
              <a:rPr lang="en-GB" dirty="0" err="1"/>
              <a:t>visszavonás</a:t>
            </a:r>
            <a:r>
              <a:rPr lang="en-GB" dirty="0"/>
              <a:t>)</a:t>
            </a:r>
          </a:p>
          <a:p>
            <a:r>
              <a:rPr lang="en-GB" i="1" dirty="0"/>
              <a:t>Consistency</a:t>
            </a:r>
            <a:r>
              <a:rPr lang="en-GB" dirty="0"/>
              <a:t> = Az </a:t>
            </a:r>
            <a:r>
              <a:rPr lang="en-GB" dirty="0" err="1"/>
              <a:t>adatbázis</a:t>
            </a:r>
            <a:r>
              <a:rPr lang="en-GB" dirty="0"/>
              <a:t> </a:t>
            </a:r>
            <a:r>
              <a:rPr lang="en-GB" dirty="0" err="1"/>
              <a:t>mindig</a:t>
            </a:r>
            <a:r>
              <a:rPr lang="en-GB" dirty="0"/>
              <a:t> </a:t>
            </a:r>
            <a:r>
              <a:rPr lang="en-GB" dirty="0" err="1"/>
              <a:t>helyes</a:t>
            </a:r>
            <a:r>
              <a:rPr lang="en-GB" dirty="0"/>
              <a:t> </a:t>
            </a:r>
            <a:r>
              <a:rPr lang="en-GB" dirty="0" err="1"/>
              <a:t>állapotban</a:t>
            </a:r>
            <a:r>
              <a:rPr lang="en-GB" dirty="0"/>
              <a:t> </a:t>
            </a:r>
            <a:r>
              <a:rPr lang="en-GB" dirty="0" err="1"/>
              <a:t>marad</a:t>
            </a:r>
            <a:endParaRPr lang="en-GB" dirty="0"/>
          </a:p>
          <a:p>
            <a:r>
              <a:rPr lang="en-GB" i="1" dirty="0"/>
              <a:t>Isolation</a:t>
            </a:r>
            <a:r>
              <a:rPr lang="en-GB" dirty="0"/>
              <a:t> = </a:t>
            </a:r>
            <a:r>
              <a:rPr lang="en-GB" dirty="0" err="1"/>
              <a:t>Tranzakciók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zavarják</a:t>
            </a:r>
            <a:r>
              <a:rPr lang="en-GB" dirty="0"/>
              <a:t> </a:t>
            </a:r>
            <a:r>
              <a:rPr lang="en-GB" dirty="0" err="1"/>
              <a:t>egymást</a:t>
            </a:r>
            <a:endParaRPr lang="en-GB" dirty="0"/>
          </a:p>
          <a:p>
            <a:r>
              <a:rPr lang="en-GB" i="1" dirty="0"/>
              <a:t>Durability</a:t>
            </a:r>
            <a:r>
              <a:rPr lang="en-GB" dirty="0"/>
              <a:t> = </a:t>
            </a:r>
            <a:r>
              <a:rPr lang="en-GB" dirty="0" err="1"/>
              <a:t>Mentett</a:t>
            </a:r>
            <a:r>
              <a:rPr lang="en-GB" dirty="0"/>
              <a:t> </a:t>
            </a:r>
            <a:r>
              <a:rPr lang="en-GB" dirty="0" err="1"/>
              <a:t>adatok</a:t>
            </a:r>
            <a:r>
              <a:rPr lang="en-GB" dirty="0"/>
              <a:t> </a:t>
            </a:r>
            <a:r>
              <a:rPr lang="en-GB" dirty="0" err="1"/>
              <a:t>nem</a:t>
            </a:r>
            <a:r>
              <a:rPr lang="en-GB" dirty="0"/>
              <a:t> </a:t>
            </a:r>
            <a:r>
              <a:rPr lang="en-GB" dirty="0" err="1"/>
              <a:t>vesznek</a:t>
            </a:r>
            <a:r>
              <a:rPr lang="en-GB" dirty="0"/>
              <a:t> </a:t>
            </a:r>
            <a:r>
              <a:rPr lang="en-GB" dirty="0" err="1"/>
              <a:t>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948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EEB55-547C-FCDF-229A-090DB5461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 a </a:t>
            </a:r>
            <a:r>
              <a:rPr lang="en-GB"/>
              <a:t>NoSQL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C592-398C-C91C-176B-D3569E73E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Nem </a:t>
            </a:r>
            <a:r>
              <a:rPr lang="en-GB" dirty="0" err="1"/>
              <a:t>relációs</a:t>
            </a:r>
            <a:r>
              <a:rPr lang="en-GB" dirty="0"/>
              <a:t> </a:t>
            </a:r>
            <a:r>
              <a:rPr lang="en-GB" dirty="0" err="1"/>
              <a:t>adatbázis</a:t>
            </a:r>
            <a:endParaRPr lang="en-GB" dirty="0"/>
          </a:p>
          <a:p>
            <a:r>
              <a:rPr lang="en-GB" dirty="0" err="1"/>
              <a:t>Rugalmas</a:t>
            </a:r>
            <a:r>
              <a:rPr lang="en-GB" dirty="0"/>
              <a:t> </a:t>
            </a:r>
            <a:r>
              <a:rPr lang="en-GB" dirty="0" err="1"/>
              <a:t>adatmodell</a:t>
            </a:r>
          </a:p>
          <a:p>
            <a:r>
              <a:rPr lang="en-GB" dirty="0"/>
              <a:t>JSON / </a:t>
            </a:r>
            <a:r>
              <a:rPr lang="en-GB" dirty="0" err="1"/>
              <a:t>dokumetnum</a:t>
            </a:r>
            <a:r>
              <a:rPr lang="en-GB" dirty="0"/>
              <a:t> </a:t>
            </a:r>
            <a:r>
              <a:rPr lang="en-GB" dirty="0" err="1"/>
              <a:t>alapú</a:t>
            </a:r>
            <a:endParaRPr lang="en-GB" dirty="0"/>
          </a:p>
          <a:p>
            <a:r>
              <a:rPr lang="en-GB" dirty="0" err="1"/>
              <a:t>Példák</a:t>
            </a:r>
            <a:r>
              <a:rPr lang="en-GB" dirty="0"/>
              <a:t>: </a:t>
            </a:r>
            <a:r>
              <a:rPr lang="en-GB" i="1" dirty="0"/>
              <a:t>MongoDB</a:t>
            </a:r>
            <a:r>
              <a:rPr lang="en-GB" dirty="0"/>
              <a:t>, Firebase</a:t>
            </a:r>
          </a:p>
        </p:txBody>
      </p:sp>
    </p:spTree>
    <p:extLst>
      <p:ext uri="{BB962C8B-B14F-4D97-AF65-F5344CB8AC3E}">
        <p14:creationId xmlns:p14="http://schemas.microsoft.com/office/powerpoint/2010/main" val="80981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2440A-CA6A-3A18-FB3E-FB7DEB2B9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GB" sz="2800"/>
              <a:t>Fő különbségek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5A433-3AFF-3BF3-785B-EE827FA8C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/>
              <a:t>SQL: fix séma | NOSQL: rugalmas séna</a:t>
            </a:r>
          </a:p>
          <a:p>
            <a:r>
              <a:rPr lang="en-GB" sz="1700"/>
              <a:t>SQL: komplex lekérdezések | NOSQL: gyors olvasás/irás</a:t>
            </a:r>
          </a:p>
          <a:p>
            <a:r>
              <a:rPr lang="en-GB" sz="1700"/>
              <a:t>SQL: ACID | NOSQL: skálázhatóság</a:t>
            </a:r>
          </a:p>
          <a:p>
            <a:r>
              <a:rPr lang="en-GB" sz="1700"/>
              <a:t>SQL: strukturált | NOSQL: </a:t>
            </a:r>
            <a:r>
              <a:rPr lang="en-GB" sz="1700" b="1"/>
              <a:t>(</a:t>
            </a:r>
            <a:r>
              <a:rPr lang="en-GB" sz="1700"/>
              <a:t>félig/nem</a:t>
            </a:r>
            <a:r>
              <a:rPr lang="en-GB" sz="1700" b="1"/>
              <a:t>) </a:t>
            </a:r>
            <a:r>
              <a:rPr lang="en-GB" sz="1700"/>
              <a:t>strukturált </a:t>
            </a:r>
          </a:p>
          <a:p>
            <a:endParaRPr lang="en-GB" sz="1700"/>
          </a:p>
        </p:txBody>
      </p:sp>
      <p:pic>
        <p:nvPicPr>
          <p:cNvPr id="4" name="Picture 3" descr="SQL vs NoSQL - 7 Key Differences You Must Know">
            <a:extLst>
              <a:ext uri="{FF2B5EF4-FFF2-40B4-BE49-F238E27FC236}">
                <a16:creationId xmlns:a16="http://schemas.microsoft.com/office/drawing/2014/main" id="{9A6C8A95-8378-39AE-1554-7A13034A4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195029"/>
            <a:ext cx="6922008" cy="456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157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42AF-D2CE-8C6D-D5EA-10594770E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Mikor</a:t>
            </a:r>
            <a:r>
              <a:rPr lang="en-GB" dirty="0"/>
              <a:t> </a:t>
            </a:r>
            <a:r>
              <a:rPr lang="en-GB" dirty="0" err="1"/>
              <a:t>melyiket</a:t>
            </a:r>
            <a:r>
              <a:rPr lang="en-GB" dirty="0"/>
              <a:t>? 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5E57F-C073-9CCB-9458-75945F62F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SQL: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GB" dirty="0"/>
              <a:t>Banki </a:t>
            </a:r>
            <a:r>
              <a:rPr lang="en-GB" dirty="0" err="1"/>
              <a:t>rendszerek</a:t>
            </a:r>
            <a:endParaRPr lang="en-GB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dirty="0"/>
              <a:t>Pontos </a:t>
            </a:r>
            <a:r>
              <a:rPr lang="en-GB" dirty="0" err="1"/>
              <a:t>adatok</a:t>
            </a:r>
            <a:endParaRPr lang="en-GB" dirty="0"/>
          </a:p>
          <a:p>
            <a:r>
              <a:rPr lang="en-GB"/>
              <a:t>NOSQL:</a:t>
            </a:r>
            <a:endParaRPr lang="en-GB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dirty="0"/>
              <a:t>Nagy </a:t>
            </a:r>
            <a:r>
              <a:rPr lang="en-GB" dirty="0" err="1"/>
              <a:t>adatmennyiség</a:t>
            </a:r>
            <a:endParaRPr lang="en-GB"/>
          </a:p>
          <a:p>
            <a:pPr lvl="1">
              <a:buFont typeface="Courier New" panose="020B0604020202020204" pitchFamily="34" charset="0"/>
              <a:buChar char="o"/>
            </a:pPr>
            <a:r>
              <a:rPr lang="en-GB" dirty="0"/>
              <a:t>Webes </a:t>
            </a:r>
            <a:r>
              <a:rPr lang="en-GB" dirty="0" err="1"/>
              <a:t>alkalmazások</a:t>
            </a:r>
            <a:endParaRPr lang="en-GB"/>
          </a:p>
          <a:p>
            <a:pPr marL="0" indent="0">
              <a:buNone/>
            </a:pPr>
            <a:r>
              <a:rPr lang="en-GB" dirty="0"/>
              <a:t>Projekt </a:t>
            </a:r>
            <a:r>
              <a:rPr lang="en-GB" dirty="0" err="1"/>
              <a:t>igénye</a:t>
            </a:r>
            <a:r>
              <a:rPr lang="en-GB" dirty="0"/>
              <a:t> </a:t>
            </a:r>
            <a:r>
              <a:rPr lang="en-GB" dirty="0" err="1"/>
              <a:t>alapján</a:t>
            </a:r>
            <a:r>
              <a:rPr lang="en-GB" dirty="0"/>
              <a:t> </a:t>
            </a:r>
            <a:r>
              <a:rPr lang="en-GB" dirty="0" err="1"/>
              <a:t>kell</a:t>
            </a:r>
            <a:r>
              <a:rPr lang="en-GB" dirty="0"/>
              <a:t> </a:t>
            </a:r>
            <a:r>
              <a:rPr lang="en-GB" dirty="0" err="1"/>
              <a:t>dönteni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7171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7B0BE9-C02D-D784-BBC2-BFE0BAFEB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Köszönöm a figyelmet!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Like">
            <a:extLst>
              <a:ext uri="{FF2B5EF4-FFF2-40B4-BE49-F238E27FC236}">
                <a16:creationId xmlns:a16="http://schemas.microsoft.com/office/drawing/2014/main" id="{4DD8696E-C0E8-3D41-376D-159762F65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60099" y="625683"/>
            <a:ext cx="5455380" cy="545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851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AccentBoxVTI</vt:lpstr>
      <vt:lpstr>NoSQL, SQL, Elastic Search</vt:lpstr>
      <vt:lpstr>Mi az SQL?</vt:lpstr>
      <vt:lpstr>ACID tulajdonságok SQL-ben</vt:lpstr>
      <vt:lpstr>Mi a NoSQL</vt:lpstr>
      <vt:lpstr>Fő különbségek</vt:lpstr>
      <vt:lpstr>Mikor melyiket? 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99</cp:revision>
  <dcterms:created xsi:type="dcterms:W3CDTF">2026-03-31T12:14:25Z</dcterms:created>
  <dcterms:modified xsi:type="dcterms:W3CDTF">2026-04-13T15:55:27Z</dcterms:modified>
</cp:coreProperties>
</file>